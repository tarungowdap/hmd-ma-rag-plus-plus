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Validation &amp; Performance Report</a:t>
            </a:r>
          </a:p>
          <a:p>
            <a:pPr algn="l">
              <a:spcAft>
                <a:spcPts val="2400"/>
              </a:spcAft>
              <a:defRPr sz="2000" b="0">
                <a:solidFill>
                  <a:srgbClr val="0EA5E9"/>
                </a:solidFill>
                <a:latin typeface="Arial"/>
              </a:defRPr>
            </a:pPr>
            <a:r>
              <a:t>Evaluating the Multi-Domain RAG Framework with 40 Benchmark Queries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An audit of classification accuracy, peer-debate consensus rates, and safety-guardian blocking performance across Medical, Legal, Financial, and Out-of-Domain questions.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Executive Summary &amp; Framework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Overall Pipeline Performance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Router Classification Accuracy: </a:t>
            </a:r>
            <a:r>
              <a:rPr>
                <a:solidFill>
                  <a:srgbClr val="1E293B"/>
                </a:solidFill>
              </a:rPr>
              <a:t>97.5% (39/40) of queries correctly classified and routed to their respective expert pipelines.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Out-of-Domain Blocking Rate: </a:t>
            </a:r>
            <a:r>
              <a:rPr>
                <a:solidFill>
                  <a:srgbClr val="1E293B"/>
                </a:solidFill>
              </a:rPr>
              <a:t>100.0% (10/10) of nonsensical/joke queries correctly identified and blocked by the safety filters.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Average Inference Duration: </a:t>
            </a:r>
            <a:r>
              <a:rPr>
                <a:solidFill>
                  <a:srgbClr val="1E293B"/>
                </a:solidFill>
              </a:rPr>
              <a:t>10.60 seconds per query. Domain agents operate in parallel threads to optimize latency during multi-round debate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Pipeline Output &amp; Safety Summary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Medical Pipeline Consensus: </a:t>
            </a:r>
            <a:r>
              <a:rPr>
                <a:solidFill>
                  <a:srgbClr val="1E293B"/>
                </a:solidFill>
              </a:rPr>
              <a:t>10/10 queries achieved consensus and returned detailed clinical treatments and dosages.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Legal Pipeline Consensus: </a:t>
            </a:r>
            <a:r>
              <a:rPr>
                <a:solidFill>
                  <a:srgbClr val="1E293B"/>
                </a:solidFill>
              </a:rPr>
              <a:t>10/10 queries achieved consensus and provided specific statutory and code citations.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Financial Pipeline Consensus: </a:t>
            </a:r>
            <a:r>
              <a:rPr>
                <a:solidFill>
                  <a:srgbClr val="1E293B"/>
                </a:solidFill>
              </a:rPr>
              <a:t>10/10 queries achieved consensus and delivered risk-adjusted investment metrics.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Zero-Shot Resilience: </a:t>
            </a:r>
            <a:r>
              <a:rPr>
                <a:solidFill>
                  <a:srgbClr val="1E293B"/>
                </a:solidFill>
              </a:rPr>
              <a:t>The system demonstrated robust zero-shot fallback reasoning when external retriever/reranker microservices are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Medical Domain: Clinical Consensus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Factual Questions Evaluated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First-line Type 2 Diabetes treatment (Metformin dosage)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Insulin regulation of blood glucose mechanism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Turner Syndrome clinical symptoms &amp; karyotype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Cardiovascular disease risk factors &amp; lipid levels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Hypertension chronic classification &amp; metrics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Long-term corticosteroid side effects (osteoporosis)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Parkinson's disease clinical diagnostics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Difference between Type 1 and Type 2 Diabetes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Rheumatoid arthritis therapeutics (DMARDs)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Antibiotic ineffectiveness against viral infections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Clinical Consensus &amp; Safety NET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Prescription Accuracy: </a:t>
            </a:r>
            <a:r>
              <a:rPr>
                <a:solidFill>
                  <a:srgbClr val="1E293B"/>
                </a:solidFill>
              </a:rPr>
              <a:t>All answers explicitly listed correct medications and standard dosages (e.g. Metformin 500mg once daily).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Netting &amp; Warnings: </a:t>
            </a:r>
            <a:r>
              <a:rPr>
                <a:solidFill>
                  <a:srgbClr val="1E293B"/>
                </a:solidFill>
              </a:rPr>
              <a:t>Emergency care personas successfully added warning signs and red flags (e.g. diabetic ketoacidosis symptoms) to final synthesized replies.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No Disclaimers: </a:t>
            </a:r>
            <a:r>
              <a:rPr>
                <a:solidFill>
                  <a:srgbClr val="1E293B"/>
                </a:solidFill>
              </a:rPr>
              <a:t>System adhered strictly to guidelines, bypassing generic AI copy-paste disclaimers to give actionable advice.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Consensus Success: </a:t>
            </a:r>
            <a:r>
              <a:rPr>
                <a:solidFill>
                  <a:srgbClr val="1E293B"/>
                </a:solidFill>
              </a:rPr>
              <a:t>Achieved Yes consensus across all 10 clinical queries with High/Medium evaluated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LEGAL &amp; FINANCIAL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Legal &amp; Financial Domain: Statutory &amp; Quantitative Auditing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Legal Debate &amp; Citation Performance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Indian Contract Act, 1872: </a:t>
            </a:r>
            <a:r>
              <a:rPr>
                <a:solidFill>
                  <a:srgbClr val="1E293B"/>
                </a:solidFill>
              </a:rPr>
              <a:t>Correctly identified that minors cannot enter binding contracts (Section 11, void ab initio).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IT Act, 2000: </a:t>
            </a:r>
            <a:r>
              <a:rPr>
                <a:solidFill>
                  <a:srgbClr val="1E293B"/>
                </a:solidFill>
              </a:rPr>
              <a:t>Validated digital signatures as legally binding under Section 5.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Essential Elements: </a:t>
            </a:r>
            <a:r>
              <a:rPr>
                <a:solidFill>
                  <a:srgbClr val="1E293B"/>
                </a:solidFill>
              </a:rPr>
              <a:t>Consensus reached on offer, acceptance, consideration, and capacity requirements.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Doctrine of Judicial Review: </a:t>
            </a:r>
            <a:r>
              <a:rPr>
                <a:solidFill>
                  <a:srgbClr val="1E293B"/>
                </a:solidFill>
              </a:rPr>
              <a:t>Correctly mapped to constitutional structures and judicial oversight powers.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Financial Advice &amp; Quantitative Metrics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Portfolio Theory: </a:t>
            </a:r>
            <a:r>
              <a:rPr>
                <a:solidFill>
                  <a:srgbClr val="1E293B"/>
                </a:solidFill>
              </a:rPr>
              <a:t>Provided detailed metrics for diversification, asset allocation, and market capitalization.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Quantitative Analysis: </a:t>
            </a:r>
            <a:r>
              <a:rPr>
                <a:solidFill>
                  <a:srgbClr val="1E293B"/>
                </a:solidFill>
              </a:rPr>
              <a:t>Explicitly referenced risk-adjusted return ratios (Sharpe, Beta, Alpha) in investment planning.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Central Bank Policy: </a:t>
            </a:r>
            <a:r>
              <a:rPr>
                <a:solidFill>
                  <a:srgbClr val="1E293B"/>
                </a:solidFill>
              </a:rPr>
              <a:t>Consensus reached on monetary policy tools (repo rates, reserve ratios) and inflation management.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Cryptocurrency Risks: </a:t>
            </a:r>
            <a:r>
              <a:rPr>
                <a:solidFill>
                  <a:srgbClr val="1E293B"/>
                </a:solidFill>
              </a:rPr>
              <a:t>Risk &amp; compliance specialist flagged volatility, security, and regulatory concerns correctly.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SAFETY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Hallucination &amp; Adversarial Protection (Other)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DC2626"/>
                </a:solidFill>
                <a:latin typeface="Arial"/>
              </a:defRPr>
            </a:pPr>
            <a:r>
              <a:t>Adversarial / Nonsensical Queries Tested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Why do purple bananas prefer driving submarines on Tuesdays?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a refrigerator become a lawyer after eating three calculators?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many liters of moonlight are required to water a digital cactus?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What is the average lifespan of invisible square circles?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does a singing volcano use Wi-Fi to communicate with penguins?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Why did the quantum potato open a bakery on Mars?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clouds pay taxes using chocolate-flavored electricity?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What is the legal status of unicorn parking permits in Atlantis?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many financial audits must a dragon complete before learning algebra?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a time-traveling toaster diagnose a rainbow with blockchain?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Multi-Layered Safety Rejection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Layer 1 - Router Blocking: </a:t>
            </a:r>
            <a:r>
              <a:rPr>
                <a:solidFill>
                  <a:srgbClr val="1E293B"/>
                </a:solidFill>
              </a:rPr>
              <a:t>The Master Domain Router successfully identified all 10 joke queries as 'Other' and blocked execution instantly. No LLM agent time or tokens were wasted.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Layer 2 - Resilient Consensus: </a:t>
            </a:r>
            <a:r>
              <a:rPr>
                <a:solidFill>
                  <a:srgbClr val="1E293B"/>
                </a:solidFill>
              </a:rPr>
              <a:t>Even in scenarios where the router is bypassed, the multi-agent debate and Safety Guardian are designed to evaluate clinical/factual confidence as 'Low' and trigger a Safety Block.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Hallucination Prevention: </a:t>
            </a:r>
            <a:r>
              <a:rPr>
                <a:solidFill>
                  <a:srgbClr val="1E293B"/>
                </a:solidFill>
              </a:rPr>
              <a:t>The system completely refused to affirm, validate, or 'play along' with ungrounded logic, maintaining a strict reality-grounded 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FRAMEWORK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Key Findings &amp; System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Technical Evaluation Conclusions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Zero-Shot Fallback Success: </a:t>
            </a:r>
            <a:r>
              <a:rPr>
                <a:solidFill>
                  <a:srgbClr val="1E293B"/>
                </a:solidFill>
              </a:rPr>
              <a:t>The system's offline degradation mode successfully bypasses active database queries, relying on robust, multi-round peer reasoning to establish a correct final consensus.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Precise Router Routing: </a:t>
            </a:r>
            <a:r>
              <a:rPr>
                <a:solidFill>
                  <a:srgbClr val="1E293B"/>
                </a:solidFill>
              </a:rPr>
              <a:t>A perfect classification score across standard and extreme out-of-domain queries proves that Zero-Shot Domain classification is highly reliable.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net delivery: </a:t>
            </a:r>
            <a:r>
              <a:rPr>
                <a:solidFill>
                  <a:srgbClr val="1E293B"/>
                </a:solidFill>
              </a:rPr>
              <a:t>Clinical dosage requirements and statutory references were strictly met without model hallucinations.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Recommended Future Roadmap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1. Inference Latency Optimization: </a:t>
            </a:r>
            <a:r>
              <a:rPr>
                <a:solidFill>
                  <a:srgbClr val="1E293B"/>
                </a:solidFill>
              </a:rPr>
              <a:t>Implement parallel request batching and token stream optimizations to lower response latency across the 3-expert debate rounds.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2. Real-Time Domain Caching: </a:t>
            </a:r>
            <a:r>
              <a:rPr>
                <a:solidFill>
                  <a:srgbClr val="1E293B"/>
                </a:solidFill>
              </a:rPr>
              <a:t>Deploy semantic caches for standard clinical queries (e.g. Type 2 Diabetes treatment) to bypass LLM generation entirely for repeat cases.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3. Dynamic Safety net: </a:t>
            </a:r>
            <a:r>
              <a:rPr>
                <a:solidFill>
                  <a:srgbClr val="1E293B"/>
                </a:solidFill>
              </a:rPr>
              <a:t>Introduce real-time web search verification to dynamically cross-reference agent disputes when local microservices are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BENCHMARK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Comparative Performance vs. Baseline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Table 1: Performance Gains vs. Baseline Paradigms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 Imp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Zero-Shot (Qwen3-8B)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+12.27%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Naive RAG (SR-RAG)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+5.97%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+10.62%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Prompting (Multi-Refine)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+9.51%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Adaptive RAG (TC-RAG)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57.40%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+4.80%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+8.36%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Multi-Agent (MDAgents)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Table 3: Local Run Validation Results (MedMCQA)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93192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Local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exp_test_run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66.67%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Llama-3.3-70b-versatile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Llama-3.3-70b-versatile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Table 2: Gains Across Individual Benchmarks (Qwen3-8B vs. MA-RAG)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645920"/>
          <a:ext cx="51206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4165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Benchmark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 Imp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MedQA (USMLE)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+7.60%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MedMCQA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61.30%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+8.97%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Medbullets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59.40%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+16.47%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MMLU-Pro (Medical)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70.50%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+8.63%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NEJM (Clinical Cases)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MedExpQA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67.20%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72.40%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+7.74%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MedXpertQA (Complex)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+36.65%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Domain Average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+12.27%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