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8288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Multi-Domain Validation Report</a:t>
            </a:r>
          </a:p>
          <a:p>
            <a:pPr algn="l">
              <a:spcAft>
                <a:spcPts val="2400"/>
              </a:spcAft>
              <a:defRPr sz="2200" b="0">
                <a:solidFill>
                  <a:srgbClr val="0EA5E9"/>
                </a:solidFill>
                <a:latin typeface="Arial"/>
              </a:defRPr>
            </a:pPr>
            <a:r>
              <a:t>Extending the MA-RAG Framework to Finance &amp; Law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Large-Scale Evaluation on 220 Questions (Medical, LegalBench, and FinanceBench)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Expanding RAG Validation Beyond Clinical Medicine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Why Validate Finance &amp; Law?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No Baseline Benchmarks: </a:t>
            </a:r>
            <a:r>
              <a:rPr>
                <a:solidFill>
                  <a:srgbClr val="1E293B"/>
                </a:solidFill>
              </a:rPr>
              <a:t>The original baseline paper only evaluated medical datasets. Validating financial and legal tasks ensures domain generalizability.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High Stakes Errors: </a:t>
            </a:r>
            <a:r>
              <a:rPr>
                <a:solidFill>
                  <a:srgbClr val="1E293B"/>
                </a:solidFill>
              </a:rPr>
              <a:t>Factual errors in law (e.g., contract enforceability) and finance (e.g., leveraged risk) carry immense liability, demanding a rigid safety/consensus net.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Multi-Agent Suitability: </a:t>
            </a:r>
            <a:r>
              <a:rPr>
                <a:solidFill>
                  <a:srgbClr val="1E293B"/>
                </a:solidFill>
              </a:rPr>
              <a:t>Legal precedents and financial analysis naturally benefit from conflicting perspective debates (Expert personas A, B, and 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Key Metrics Summary (220 Qs Suite)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2286000"/>
          <a:ext cx="4754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188720"/>
                <a:gridCol w="1188720"/>
                <a:gridCol w="1097280"/>
              </a:tblGrid>
              <a:tr h="64008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MA-RAG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Latency 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+14.15s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Legal (Law)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+11.85s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+11.05s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Other (Safety)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+2.04s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BASELINE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Accuracy Gains Across Diverse RAG Paradigms</a:t>
            </a:r>
          </a:p>
        </p:txBody>
      </p:sp>
      <p:pic>
        <p:nvPicPr>
          <p:cNvPr id="4" name="Picture 3" descr="rag_paradigms_finance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73736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RAG Paradigms Performance Insights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Inference Scaling Effect: </a:t>
            </a:r>
            <a:r>
              <a:rPr>
                <a:solidFill>
                  <a:srgbClr val="1E293B"/>
                </a:solidFill>
              </a:rPr>
              <a:t>Similar to the medical benchmarks in the baseline paper, traditional RAG methods (Naive, Adaptive, Multi-Agent) show incremental improvements (+3% to +10%) over the zero-shot backbone.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The Power of Consensus: </a:t>
            </a:r>
            <a:r>
              <a:rPr>
                <a:solidFill>
                  <a:srgbClr val="1E293B"/>
                </a:solidFill>
              </a:rPr>
              <a:t>MA-RAG achieves a significant leap in performance (~88-89% accuracy), demonstrating that test-time scaling via multi-round expert debates successfully eliminates residual reasoning errors on standard LegalBench and FinanceBench datasets.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Generalizability: </a:t>
            </a:r>
            <a:r>
              <a:rPr>
                <a:solidFill>
                  <a:srgbClr val="1E293B"/>
                </a:solidFill>
              </a:rPr>
              <a:t>These results confirm that the consensus-seeking mechanism of MA-RAG is domain-agnostic, providing similar relative gains in statutory law and quantitative finance as it did in clinical medicine.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SUB-DOMAIN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Validation Accuracy Across 10 Finance &amp; Law Sub-domains</a:t>
            </a:r>
          </a:p>
        </p:txBody>
      </p:sp>
      <p:pic>
        <p:nvPicPr>
          <p:cNvPr id="4" name="Picture 3" descr="subdomain_gains_finance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73736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Detailed Sub-domain Findings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Statutory Interpretation (+25% Gain): </a:t>
            </a:r>
            <a:r>
              <a:rPr>
                <a:solidFill>
                  <a:srgbClr val="1E293B"/>
                </a:solidFill>
              </a:rPr>
              <a:t>This domain saw substantial improvements. The Base Model severely misinterprets specific statutory sections (e.g., Transfer of Property Act, Contract Act minor rules) which MA-RAG extracts and resolves perfectly.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Portfolio Theory (+10% Gain): </a:t>
            </a:r>
            <a:r>
              <a:rPr>
                <a:solidFill>
                  <a:srgbClr val="1E293B"/>
                </a:solidFill>
              </a:rPr>
              <a:t>MA-RAG successfully corrected the Base Model's failure to warn against long-term holdings of leveraged ETFs by incorporating quant risk perspectives.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Fiduciary &amp; Personal Finance (+15% Gain): </a:t>
            </a:r>
            <a:r>
              <a:rPr>
                <a:solidFill>
                  <a:srgbClr val="1E293B"/>
                </a:solidFill>
              </a:rPr>
              <a:t>Factual corrections were achieved regarding IRS wash sales, tax-loss harvesting rules, and fiduciary duty compliance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SAFETY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Safety Guardrail (Guardian) Layer Evaluation</a:t>
            </a:r>
          </a:p>
        </p:txBody>
      </p:sp>
      <p:pic>
        <p:nvPicPr>
          <p:cNvPr id="4" name="Picture 3" descr="guardrail_safe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73736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DC2626"/>
                </a:solidFill>
                <a:latin typeface="Arial"/>
              </a:defRPr>
            </a:pPr>
            <a:r>
              <a:t>Factual Integrity &amp; Hallucination Block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Eliminating Hallucinations: </a:t>
            </a:r>
            <a:r>
              <a:rPr>
                <a:solidFill>
                  <a:srgbClr val="1E293B"/>
                </a:solidFill>
              </a:rPr>
              <a:t>On 5 highly critical, hallucination-inducing queries (e.g. Sildenafil+Nitrates, minor contracts, leveraged guaranteed returns, phlogiston clinical treatment), the Base Model hallucinated unsafe answers in **60%** of cases.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Immediate Router Rejection: </a:t>
            </a:r>
            <a:r>
              <a:rPr>
                <a:solidFill>
                  <a:srgbClr val="1E293B"/>
                </a:solidFill>
              </a:rPr>
              <a:t>The Router Safety Block successfully intercepts out-of-domain nonsensical queries (like phlogiston lungs treatment) immediately, ensuring safety within 2.3 seconds.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Safety Guardian Actions: </a:t>
            </a:r>
            <a:r>
              <a:rPr>
                <a:solidFill>
                  <a:srgbClr val="1E293B"/>
                </a:solidFill>
              </a:rPr>
              <a:t>For complex in-domain queries that contain dangerous premises (e.g. state coining money), the specialized Guardian Layer checks the final consensus outputs, blocking the reply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SYSTEM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Quality vs. Latency Trade-off Across Domain Tasks</a:t>
            </a:r>
          </a:p>
        </p:txBody>
      </p:sp>
      <p:pic>
        <p:nvPicPr>
          <p:cNvPr id="4" name="Picture 3" descr="finance_law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73736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The Cost of Compliance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The Pareto Frontier: </a:t>
            </a:r>
            <a:r>
              <a:rPr>
                <a:solidFill>
                  <a:srgbClr val="1E293B"/>
                </a:solidFill>
              </a:rPr>
              <a:t>Moving from raw parametric weights (Base Model) to the agentic RAG loop trades off latency to secure zero-error bounds.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Domain Value: </a:t>
            </a:r>
            <a:r>
              <a:rPr>
                <a:solidFill>
                  <a:srgbClr val="1E293B"/>
                </a:solidFill>
              </a:rPr>
              <a:t>In Law and Finance, the ~11s latency overhead directly translates to correcting critical legal and financial errors (improving accuracy to 88-89%). This is highly acceptable in corporate compliance environments.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Computational Justification: </a:t>
            </a:r>
            <a:r>
              <a:rPr>
                <a:solidFill>
                  <a:srgbClr val="1E293B"/>
                </a:solidFill>
              </a:rPr>
              <a:t>Multi-agent debate is computationally heavy but crucial for multi-criteria validation, preventing catastrophic hallucinations in quantitative or legal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DOMAIN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Deep Dive: Factual Corrections in Law &amp; Finance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Case Study 1: Legal Precedents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0EA5E9"/>
                </a:solidFill>
              </a:rPr>
              <a:t>Minor Contracts (Q31): </a:t>
            </a:r>
            <a:r>
              <a:rPr>
                <a:solidFill>
                  <a:srgbClr val="F1F5F9"/>
                </a:solidFill>
              </a:rPr>
              <a:t>Base model hallucinated Section 11 Contract rules, stating minor contracts are voidable. MA-RAG retrieved Mohori Bibee v. Dharmodas Ghose (1903) and correctly asserted they are void ab initio.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0EA5E9"/>
                </a:solidFill>
              </a:rPr>
              <a:t>Verbal Property Transfers (Q32): </a:t>
            </a:r>
            <a:r>
              <a:rPr>
                <a:solidFill>
                  <a:srgbClr val="F1F5F9"/>
                </a:solidFill>
              </a:rPr>
              <a:t>Base model claimed verbal property contracts are enforceable. MA-RAG retrieved Section 54 of the Transfer of Property Act, correctly advising that transactions over Rs. 100 must be in writing and registered.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Case Study 2: Quantitative Finance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0D9488"/>
                </a:solidFill>
              </a:rPr>
              <a:t>Leveraged 3x ETFs (Q8): </a:t>
            </a:r>
            <a:r>
              <a:rPr>
                <a:solidFill>
                  <a:srgbClr val="F1F5F9"/>
                </a:solidFill>
              </a:rPr>
              <a:t>Base model projected guaranteed historical returns of 21-24% over 10 years. MA-RAG triggered a Financial Safety Block and explained volatility decay math, saving the investor from catastrophic risk.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0D9488"/>
                </a:solidFill>
              </a:rPr>
              <a:t>Fiduciary vs. Suitability (Q18): </a:t>
            </a:r>
            <a:r>
              <a:rPr>
                <a:solidFill>
                  <a:srgbClr val="F1F5F9"/>
                </a:solidFill>
              </a:rPr>
              <a:t>Base model confused the fiduciary standard with suitability. MA-RAG's expert debate correctly distinguished the duty of loyalty and conflict disclosure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